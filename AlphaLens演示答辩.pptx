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d010d596e40eb" /><Relationship Type="http://schemas.openxmlformats.org/officeDocument/2006/relationships/extended-properties" Target="/docProps/app.xml" Id="Ra94173e0d5d34b57" /><Relationship Type="http://schemas.openxmlformats.org/officeDocument/2006/relationships/officeDocument" Target="/ppt/presentation.xml" Id="Rf9e73863c15c47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bc3493421a48ff"/>
  </p:sldMasterIdLst>
  <p:notesMasterIdLst>
    <p:notesMasterId xmlns:r="http://schemas.openxmlformats.org/officeDocument/2006/relationships" r:id="R2fb5c53ec02c4eb5"/>
  </p:notesMasterIdLst>
  <p:sldIdLst>
    <p:sldId xmlns:r="http://schemas.openxmlformats.org/officeDocument/2006/relationships" id="256" r:id="Rb47a0517f4e04c41"/>
    <p:sldId xmlns:r="http://schemas.openxmlformats.org/officeDocument/2006/relationships" id="257" r:id="Ra9433a3c93554566"/>
    <p:sldId xmlns:r="http://schemas.openxmlformats.org/officeDocument/2006/relationships" id="258" r:id="R9b3ba778416a474d"/>
    <p:sldId xmlns:r="http://schemas.openxmlformats.org/officeDocument/2006/relationships" id="259" r:id="Rfccee410f89d471f"/>
    <p:sldId xmlns:r="http://schemas.openxmlformats.org/officeDocument/2006/relationships" id="260" r:id="Rc322d36638814a05"/>
    <p:sldId xmlns:r="http://schemas.openxmlformats.org/officeDocument/2006/relationships" id="261" r:id="Rbe67d3a1bf67434c"/>
    <p:sldId xmlns:r="http://schemas.openxmlformats.org/officeDocument/2006/relationships" id="262" r:id="R5c1b1ac803924aa5"/>
    <p:sldId xmlns:r="http://schemas.openxmlformats.org/officeDocument/2006/relationships" id="263" r:id="R0dda0bbaabbd41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4638713074c55" /><Relationship Type="http://schemas.openxmlformats.org/officeDocument/2006/relationships/slideMaster" Target="/ppt/slideMasters/slideMaster1.xml" Id="R2fbc3493421a48ff" /><Relationship Type="http://schemas.openxmlformats.org/officeDocument/2006/relationships/notesMaster" Target="/ppt/notesMasters/notesMaster1.xml" Id="R2fb5c53ec02c4eb5" /><Relationship Type="http://schemas.openxmlformats.org/officeDocument/2006/relationships/presProps" Target="/ppt/presProps.xml" Id="R76eb850de31d4743" /><Relationship Type="http://schemas.openxmlformats.org/officeDocument/2006/relationships/tableStyles" Target="/ppt/tableStyles.xml" Id="R3a0d740d1b864a5a" /><Relationship Type="http://schemas.openxmlformats.org/officeDocument/2006/relationships/slide" Target="/ppt/slides/slide1.xml" Id="Rb47a0517f4e04c41" /><Relationship Type="http://schemas.openxmlformats.org/officeDocument/2006/relationships/slide" Target="/ppt/slides/slide2.xml" Id="Ra9433a3c93554566" /><Relationship Type="http://schemas.openxmlformats.org/officeDocument/2006/relationships/slide" Target="/ppt/slides/slide3.xml" Id="R9b3ba778416a474d" /><Relationship Type="http://schemas.openxmlformats.org/officeDocument/2006/relationships/slide" Target="/ppt/slides/slide4.xml" Id="Rfccee410f89d471f" /><Relationship Type="http://schemas.openxmlformats.org/officeDocument/2006/relationships/slide" Target="/ppt/slides/slide5.xml" Id="Rc322d36638814a05" /><Relationship Type="http://schemas.openxmlformats.org/officeDocument/2006/relationships/slide" Target="/ppt/slides/slide6.xml" Id="Rbe67d3a1bf67434c" /><Relationship Type="http://schemas.openxmlformats.org/officeDocument/2006/relationships/slide" Target="/ppt/slides/slide7.xml" Id="R5c1b1ac803924aa5" /><Relationship Type="http://schemas.openxmlformats.org/officeDocument/2006/relationships/slide" Target="/ppt/slides/slide8.xml" Id="R0dda0bbaabbd41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5fe0d948014b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d5c2f23fac4a71" /><Relationship Type="http://schemas.openxmlformats.org/officeDocument/2006/relationships/notesMaster" Target="/ppt/notesMasters/notesMaster1.xml" Id="Rbeb346106f9e4d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f6e9f6ec544315" /><Relationship Type="http://schemas.openxmlformats.org/officeDocument/2006/relationships/notesMaster" Target="/ppt/notesMasters/notesMaster1.xml" Id="Ra5c4db0484af43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e0dbcaf1b842f0" /><Relationship Type="http://schemas.openxmlformats.org/officeDocument/2006/relationships/notesMaster" Target="/ppt/notesMasters/notesMaster1.xml" Id="R7d9cebd0e27844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ecfcd7748e45a4" /><Relationship Type="http://schemas.openxmlformats.org/officeDocument/2006/relationships/notesMaster" Target="/ppt/notesMasters/notesMaster1.xml" Id="Rc8bd93c19d0e4a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b1e2b925324f63" /><Relationship Type="http://schemas.openxmlformats.org/officeDocument/2006/relationships/notesMaster" Target="/ppt/notesMasters/notesMaster1.xml" Id="R1499b4d202994f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95720f987d4724" /><Relationship Type="http://schemas.openxmlformats.org/officeDocument/2006/relationships/notesMaster" Target="/ppt/notesMasters/notesMaster1.xml" Id="R1f963b9ec0794d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691d9c9b364bd2" /><Relationship Type="http://schemas.openxmlformats.org/officeDocument/2006/relationships/notesMaster" Target="/ppt/notesMasters/notesMaster1.xml" Id="R1522f16873c94a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9bb0405b8b485c" /><Relationship Type="http://schemas.openxmlformats.org/officeDocument/2006/relationships/notesMaster" Target="/ppt/notesMasters/notesMaster1.xml" Id="R48f8ec78378c4f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开场先强调产品是量化研究助手，不是 AI 炒股。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/Users/nibelung/Desktop/工行杯/可演示成果/技术文档.md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/Users/nibelung/Desktop/工行杯/可演示成果/技术文档.md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/Users/nibelung/Desktop/工行杯/可演示成果/技术文档.md</a:t>
            </a:r>
          </a:p>
          <a:p xmlns:a="http://schemas.openxmlformats.org/drawingml/2006/main">
            <a:r>
              <a:t>- https://api-docs.deepseek.com/guides/function_calling/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/Users/nibelung/Desktop/工行杯/可演示成果/src/pipeline/live_analysis.py</a:t>
            </a:r>
          </a:p>
          <a:p xmlns:a="http://schemas.openxmlformats.org/drawingml/2006/main">
            <a:r>
              <a:t>- /Users/nibelung/Desktop/工行杯/可演示成果/src/ai/research_layer.py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/Users/nibelung/Desktop/工行杯/可演示成果/app/index.html</a:t>
            </a:r>
          </a:p>
          <a:p xmlns:a="http://schemas.openxmlformats.org/drawingml/2006/main">
            <a:r>
              <a:t>- /Users/nibelung/Desktop/工行杯/可演示成果/构建演示PPT/截图/首页.png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/Users/nibelung/Desktop/工行杯/可演示成果/data/sample/backtest_metrics_by_split.csv</a:t>
            </a:r>
          </a:p>
          <a:p xmlns:a="http://schemas.openxmlformats.org/drawingml/2006/main">
            <a:r>
              <a:t>- /Users/nibelung/Desktop/工行杯/可演示成果/data/sample/group_returns_by_split.csv</a:t>
            </a:r>
          </a:p>
          <a:p xmlns:a="http://schemas.openxmlformats.org/drawingml/2006/main">
            <a:r>
              <a:t>- /Users/nibelung/Desktop/工行杯/可演示成果/构建演示PPT/截图/历史研究.png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/Users/nibelung/Desktop/工行杯/可演示成果/data/sample/rule_diagnostics.csv</a:t>
            </a:r>
          </a:p>
          <a:p xmlns:a="http://schemas.openxmlformats.org/drawingml/2006/main">
            <a:r>
              <a:t>- /Users/nibelung/Desktop/工行杯/可演示成果/app/server.py</a:t>
            </a:r>
          </a:p>
          <a:p xmlns:a="http://schemas.openxmlformats.org/drawingml/2006/main">
            <a:r>
              <a:t>- /Users/nibelung/Desktop/工行杯/可演示成果/构建演示PPT/截图/研究审计.png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/Users/nibelung/Desktop/工行杯/可演示成果/README.md</a:t>
            </a:r>
          </a:p>
          <a:p xmlns:a="http://schemas.openxmlformats.org/drawingml/2006/main">
            <a:r>
              <a:t>- /Users/nibelung/Desktop/工行杯/可演示成果/技术文档.md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d6d56329349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598f66be684aec" /><Relationship Type="http://schemas.openxmlformats.org/officeDocument/2006/relationships/slideLayout" Target="/ppt/slideLayouts/slideLayout1.xml" Id="R2363526963b54b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63526963b54b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dd635fc324a8b" /><Relationship Type="http://schemas.openxmlformats.org/officeDocument/2006/relationships/notesSlide" Target="/ppt/notesSlides/notesSlide1.xml" Id="R92e1948a3eff4b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e2f7866114d83" /><Relationship Type="http://schemas.openxmlformats.org/officeDocument/2006/relationships/notesSlide" Target="/ppt/notesSlides/notesSlide2.xml" Id="Rbb10c514919f48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d27f9e85042bc" /><Relationship Type="http://schemas.openxmlformats.org/officeDocument/2006/relationships/notesSlide" Target="/ppt/notesSlides/notesSlide3.xml" Id="R39c0e5be9fd748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ca0f2b5be40b4" /><Relationship Type="http://schemas.openxmlformats.org/officeDocument/2006/relationships/notesSlide" Target="/ppt/notesSlides/notesSlide4.xml" Id="Ra2d126b333cd45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01007b03b4ed7" /><Relationship Type="http://schemas.openxmlformats.org/officeDocument/2006/relationships/image" Target="/ppt/media/image.jpeg" Id="R1aee8066691244c5" /><Relationship Type="http://schemas.openxmlformats.org/officeDocument/2006/relationships/notesSlide" Target="/ppt/notesSlides/notesSlide5.xml" Id="R1b07d3d40af541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cf10c815f46f4" /><Relationship Type="http://schemas.openxmlformats.org/officeDocument/2006/relationships/image" Target="/ppt/media/image2.jpeg" Id="Rabb9652eb9f64699" /><Relationship Type="http://schemas.openxmlformats.org/officeDocument/2006/relationships/notesSlide" Target="/ppt/notesSlides/notesSlide6.xml" Id="R5291b266de014e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958eadfc34299" /><Relationship Type="http://schemas.openxmlformats.org/officeDocument/2006/relationships/image" Target="/ppt/media/image3.jpeg" Id="Rea09793c72624aa2" /><Relationship Type="http://schemas.openxmlformats.org/officeDocument/2006/relationships/notesSlide" Target="/ppt/notesSlides/notesSlide7.xml" Id="R72b40123c6254c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efa2c80ac411f" /><Relationship Type="http://schemas.openxmlformats.org/officeDocument/2006/relationships/notesSlide" Target="/ppt/notesSlides/notesSlide8.xml" Id="Rbf63532e65314b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0A7A18D-E227-4299-8D78-42C89326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工行杯 · 开放创新服务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F02E03C-8020-46B8-89BE-E2E71E99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AlphaLens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B0C526D-9D9C-437D-8BA5-D7FCB020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6858000" cy="108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把非结构化金融文本转化为可解释、可回测、可复用的另类因子</a:t>
            </a:r>
          </a:p>
        </p:txBody>
      </p:sp>
      <p:sp>
        <p:nvSpPr>
          <p:cNvPr id="4" name="disclaimer-1">
            <a:extLst xmlns:a="http://schemas.openxmlformats.org/drawingml/2006/main">
              <a:ext uri="{FF2B5EF4-FFF2-40B4-BE49-F238E27FC236}">
                <a16:creationId xmlns:a16="http://schemas.microsoft.com/office/drawing/2014/main" id="{1829826B-7D9E-46E9-BD06-7434E508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本报告仅供研究参考，不构成投资建议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1079179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wo-column-title">
            <a:extLst xmlns:a="http://schemas.openxmlformats.org/drawingml/2006/main">
              <a:ext uri="{FF2B5EF4-FFF2-40B4-BE49-F238E27FC236}">
                <a16:creationId xmlns:a16="http://schemas.microsoft.com/office/drawing/2014/main" id="{ED1F0B75-7DFA-4F1C-93E1-91E45F80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真正的难点不是“读懂文本”，而是把判断变成可检验的研究对象</a:t>
            </a:r>
          </a:p>
        </p:txBody>
      </p:sp>
      <p:sp>
        <p:nvSpPr>
          <p:cNvPr id="2" name="two-column-left">
            <a:extLst xmlns:a="http://schemas.openxmlformats.org/drawingml/2006/main">
              <a:ext uri="{FF2B5EF4-FFF2-40B4-BE49-F238E27FC236}">
                <a16:creationId xmlns:a16="http://schemas.microsoft.com/office/drawing/2014/main" id="{30CC71FB-2931-4A8C-863C-299E12AB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传统断点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文本、研究结论和回测脚本相互分离。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同一判断难以复现，证据和时间边界也容易丢失。</a:t>
            </a:r>
          </a:p>
        </p:txBody>
      </p:sp>
      <p:sp>
        <p:nvSpPr>
          <p:cNvPr id="3" name="two-column-right">
            <a:extLst xmlns:a="http://schemas.openxmlformats.org/drawingml/2006/main">
              <a:ext uri="{FF2B5EF4-FFF2-40B4-BE49-F238E27FC236}">
                <a16:creationId xmlns:a16="http://schemas.microsoft.com/office/drawing/2014/main" id="{DC2D0428-AA43-4D96-8C80-3A0FEFCC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AlphaLens 的回答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原文证据 → 事件 → 谓词 → 冻结规则 → 候选因子。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每一步都可追溯，每一个因子都能重算和回测。</a:t>
            </a:r>
          </a:p>
        </p:txBody>
      </p:sp>
      <p:sp>
        <p:nvSpPr>
          <p:cNvPr id="4" name="disclaimer-2">
            <a:extLst xmlns:a="http://schemas.openxmlformats.org/drawingml/2006/main">
              <a:ext uri="{FF2B5EF4-FFF2-40B4-BE49-F238E27FC236}">
                <a16:creationId xmlns:a16="http://schemas.microsoft.com/office/drawing/2014/main" id="{601EAE70-69C2-436D-A8B5-6478B88C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本报告仅供研究参考，不构成投资建议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342837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ight-topic-title">
            <a:extLst xmlns:a="http://schemas.openxmlformats.org/drawingml/2006/main">
              <a:ext uri="{FF2B5EF4-FFF2-40B4-BE49-F238E27FC236}">
                <a16:creationId xmlns:a16="http://schemas.microsoft.com/office/drawing/2014/main" id="{E1B2768A-DE40-4FBC-B5CA-5DD788E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一条新文本必须通过八个可审计环节</a:t>
            </a:r>
          </a:p>
        </p:txBody>
      </p:sp>
      <p:sp>
        <p:nvSpPr>
          <p:cNvPr id="2" name="topic-1">
            <a:extLst xmlns:a="http://schemas.openxmlformats.org/drawingml/2006/main">
              <a:ext uri="{FF2B5EF4-FFF2-40B4-BE49-F238E27FC236}">
                <a16:creationId xmlns:a16="http://schemas.microsoft.com/office/drawing/2014/main" id="{34D42D49-8BC2-41D7-8831-0E9DF95A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76450"/>
            <a:ext cx="2595944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文本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标题、正文、来源与首次公开日</a:t>
            </a:r>
          </a:p>
        </p:txBody>
      </p:sp>
      <p:sp>
        <p:nvSpPr>
          <p:cNvPr id="3" name="topic-2">
            <a:extLst xmlns:a="http://schemas.openxmlformats.org/drawingml/2006/main">
              <a:ext uri="{FF2B5EF4-FFF2-40B4-BE49-F238E27FC236}">
                <a16:creationId xmlns:a16="http://schemas.microsoft.com/office/drawing/2014/main" id="{4B0E5A7B-4A32-455C-B3F0-6A0B41EF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076450"/>
            <a:ext cx="2595944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语义检索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检索相似冻结规则，向模型提供上下文</a:t>
            </a:r>
          </a:p>
        </p:txBody>
      </p:sp>
      <p:sp>
        <p:nvSpPr>
          <p:cNvPr id="4" name="topic-3">
            <a:extLst xmlns:a="http://schemas.openxmlformats.org/drawingml/2006/main">
              <a:ext uri="{FF2B5EF4-FFF2-40B4-BE49-F238E27FC236}">
                <a16:creationId xmlns:a16="http://schemas.microsoft.com/office/drawing/2014/main" id="{ED0D679F-50ED-41FE-8416-F85279C1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08" y="2076450"/>
            <a:ext cx="2595944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AI 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DeepSeek 返回事件、股票和 19 个谓词</a:t>
            </a:r>
          </a:p>
        </p:txBody>
      </p:sp>
      <p:sp>
        <p:nvSpPr>
          <p:cNvPr id="5" name="topic-4">
            <a:extLst xmlns:a="http://schemas.openxmlformats.org/drawingml/2006/main">
              <a:ext uri="{FF2B5EF4-FFF2-40B4-BE49-F238E27FC236}">
                <a16:creationId xmlns:a16="http://schemas.microsoft.com/office/drawing/2014/main" id="{2C273A34-DC2D-4699-B907-6A878BFD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628" y="2076450"/>
            <a:ext cx="2595944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 程序校验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校验枚举、数值、证据和股票池</a:t>
            </a:r>
          </a:p>
        </p:txBody>
      </p:sp>
      <p:sp>
        <p:nvSpPr>
          <p:cNvPr id="6" name="topic-5">
            <a:extLst xmlns:a="http://schemas.openxmlformats.org/drawingml/2006/main">
              <a:ext uri="{FF2B5EF4-FFF2-40B4-BE49-F238E27FC236}">
                <a16:creationId xmlns:a16="http://schemas.microsoft.com/office/drawing/2014/main" id="{45904147-F82C-4AA1-92B4-92E7209E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48125"/>
            <a:ext cx="2595944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 一致性门控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与确定性程序逐项对照</a:t>
            </a:r>
          </a:p>
        </p:txBody>
      </p:sp>
      <p:sp>
        <p:nvSpPr>
          <p:cNvPr id="7" name="topic-6">
            <a:extLst xmlns:a="http://schemas.openxmlformats.org/drawingml/2006/main">
              <a:ext uri="{FF2B5EF4-FFF2-40B4-BE49-F238E27FC236}">
                <a16:creationId xmlns:a16="http://schemas.microsoft.com/office/drawing/2014/main" id="{621BA0C8-CD3D-4285-BA77-8E33A09F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048125"/>
            <a:ext cx="2595944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 冻结规则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只有 agreed_true 谓词可触发</a:t>
            </a:r>
          </a:p>
        </p:txBody>
      </p:sp>
      <p:sp>
        <p:nvSpPr>
          <p:cNvPr id="8" name="topic-7">
            <a:extLst xmlns:a="http://schemas.openxmlformats.org/drawingml/2006/main">
              <a:ext uri="{FF2B5EF4-FFF2-40B4-BE49-F238E27FC236}">
                <a16:creationId xmlns:a16="http://schemas.microsoft.com/office/drawing/2014/main" id="{DB0191AE-5E23-449E-A128-7BD8E45C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08" y="4048125"/>
            <a:ext cx="2595944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 候选因子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规则分数经证据强度与事件先验加权</a:t>
            </a:r>
          </a:p>
        </p:txBody>
      </p:sp>
      <p:sp>
        <p:nvSpPr>
          <p:cNvPr id="9" name="topic-8">
            <a:extLst xmlns:a="http://schemas.openxmlformats.org/drawingml/2006/main">
              <a:ext uri="{FF2B5EF4-FFF2-40B4-BE49-F238E27FC236}">
                <a16:creationId xmlns:a16="http://schemas.microsoft.com/office/drawing/2014/main" id="{51FEBD65-5361-466D-9A97-4A831D75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628" y="4048125"/>
            <a:ext cx="2595944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 研究记录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输出公式、证据、限制和历史 OOS 参考</a:t>
            </a:r>
          </a:p>
        </p:txBody>
      </p:sp>
      <p:sp>
        <p:nvSpPr>
          <p:cNvPr id="10" name="disclaimer-3">
            <a:extLst xmlns:a="http://schemas.openxmlformats.org/drawingml/2006/main">
              <a:ext uri="{FF2B5EF4-FFF2-40B4-BE49-F238E27FC236}">
                <a16:creationId xmlns:a16="http://schemas.microsoft.com/office/drawing/2014/main" id="{00E8761D-1357-4958-89D0-B0077D34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本报告仅供研究参考，不构成投资建议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2016998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s-title">
            <a:extLst xmlns:a="http://schemas.openxmlformats.org/drawingml/2006/main">
              <a:ext uri="{FF2B5EF4-FFF2-40B4-BE49-F238E27FC236}">
                <a16:creationId xmlns:a16="http://schemas.microsoft.com/office/drawing/2014/main" id="{F0308F68-71D6-48D3-84C4-C81FD22E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不直接产生因子：一致性门控把幻觉隔离在研究之外</a:t>
            </a:r>
          </a:p>
        </p:txBody>
      </p:sp>
      <p:sp>
        <p:nvSpPr>
          <p:cNvPr id="2" name="stats-intro">
            <a:extLst xmlns:a="http://schemas.openxmlformats.org/drawingml/2006/main">
              <a:ext uri="{FF2B5EF4-FFF2-40B4-BE49-F238E27FC236}">
                <a16:creationId xmlns:a16="http://schemas.microsoft.com/office/drawing/2014/main" id="{2AE5F35B-9F0B-4B61-94D8-64789E1A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38250"/>
            <a:ext cx="1140456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门控原则</a:t>
            </a:r>
          </a:p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完整性先于结论；程序与 AI 一致才可计算。</a:t>
            </a:r>
          </a:p>
        </p:txBody>
      </p:sp>
      <p:sp>
        <p:nvSpPr>
          <p:cNvPr id="3" name="stat-panel-1">
            <a:extLst xmlns:a="http://schemas.openxmlformats.org/drawingml/2006/main">
              <a:ext uri="{FF2B5EF4-FFF2-40B4-BE49-F238E27FC236}">
                <a16:creationId xmlns:a16="http://schemas.microsoft.com/office/drawing/2014/main" id="{6FFC9A22-D131-49E1-819D-F9481059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at-1">
            <a:extLst xmlns:a="http://schemas.openxmlformats.org/drawingml/2006/main">
              <a:ext uri="{FF2B5EF4-FFF2-40B4-BE49-F238E27FC236}">
                <a16:creationId xmlns:a16="http://schemas.microsoft.com/office/drawing/2014/main" id="{D5669B07-5B5B-4B20-8144-3E113A2D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352800"/>
            <a:ext cx="2933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stat-body-1">
            <a:extLst xmlns:a="http://schemas.openxmlformats.org/drawingml/2006/main">
              <a:ext uri="{FF2B5EF4-FFF2-40B4-BE49-F238E27FC236}">
                <a16:creationId xmlns:a16="http://schemas.microsoft.com/office/drawing/2014/main" id="{896F729A-2CBE-4E0F-A313-691EA341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895850"/>
            <a:ext cx="29432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必须完整返回的锁定谓词</a:t>
            </a:r>
          </a:p>
        </p:txBody>
      </p:sp>
      <p:sp>
        <p:nvSpPr>
          <p:cNvPr id="6" name="stat-panel-2">
            <a:extLst xmlns:a="http://schemas.openxmlformats.org/drawingml/2006/main">
              <a:ext uri="{FF2B5EF4-FFF2-40B4-BE49-F238E27FC236}">
                <a16:creationId xmlns:a16="http://schemas.microsoft.com/office/drawing/2014/main" id="{56CB384D-69BE-4F5A-B6F7-9B9D1C58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2">
            <a:extLst xmlns:a="http://schemas.openxmlformats.org/drawingml/2006/main">
              <a:ext uri="{FF2B5EF4-FFF2-40B4-BE49-F238E27FC236}">
                <a16:creationId xmlns:a16="http://schemas.microsoft.com/office/drawing/2014/main" id="{9FDD720E-1D7E-4097-9027-E5414F9D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352800"/>
            <a:ext cx="2933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8" name="stat-body-2">
            <a:extLst xmlns:a="http://schemas.openxmlformats.org/drawingml/2006/main">
              <a:ext uri="{FF2B5EF4-FFF2-40B4-BE49-F238E27FC236}">
                <a16:creationId xmlns:a16="http://schemas.microsoft.com/office/drawing/2014/main" id="{681F0253-BDDE-430B-9002-96D06635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895850"/>
            <a:ext cx="29432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agreed_true / agreed_false / disputed / invalid</a:t>
            </a:r>
          </a:p>
        </p:txBody>
      </p:sp>
      <p:sp>
        <p:nvSpPr>
          <p:cNvPr id="9" name="stat-panel-3">
            <a:extLst xmlns:a="http://schemas.openxmlformats.org/drawingml/2006/main">
              <a:ext uri="{FF2B5EF4-FFF2-40B4-BE49-F238E27FC236}">
                <a16:creationId xmlns:a16="http://schemas.microsoft.com/office/drawing/2014/main" id="{FEA8A4E7-49DA-48E5-AC53-4B6235A7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-3">
            <a:extLst xmlns:a="http://schemas.openxmlformats.org/drawingml/2006/main">
              <a:ext uri="{FF2B5EF4-FFF2-40B4-BE49-F238E27FC236}">
                <a16:creationId xmlns:a16="http://schemas.microsoft.com/office/drawing/2014/main" id="{930D3A98-2F83-49F9-A285-41EFFFFE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95" y="3352800"/>
            <a:ext cx="2933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stat-body-3">
            <a:extLst xmlns:a="http://schemas.openxmlformats.org/drawingml/2006/main">
              <a:ext uri="{FF2B5EF4-FFF2-40B4-BE49-F238E27FC236}">
                <a16:creationId xmlns:a16="http://schemas.microsoft.com/office/drawing/2014/main" id="{820F4880-D55E-42FE-BA0F-0A63D6E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95" y="4895850"/>
            <a:ext cx="29432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只有 agreed_true 可以触发冻结规则</a:t>
            </a:r>
          </a:p>
        </p:txBody>
      </p:sp>
      <p:sp>
        <p:nvSpPr>
          <p:cNvPr id="12" name="disclaimer-4">
            <a:extLst xmlns:a="http://schemas.openxmlformats.org/drawingml/2006/main">
              <a:ext uri="{FF2B5EF4-FFF2-40B4-BE49-F238E27FC236}">
                <a16:creationId xmlns:a16="http://schemas.microsoft.com/office/drawing/2014/main" id="{A4AF4B46-7202-472F-B47E-E9A62015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本报告仅供研究参考，不构成投资建议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365163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creenshot-title-5">
            <a:extLst xmlns:a="http://schemas.openxmlformats.org/drawingml/2006/main">
              <a:ext uri="{FF2B5EF4-FFF2-40B4-BE49-F238E27FC236}">
                <a16:creationId xmlns:a16="http://schemas.microsoft.com/office/drawing/2014/main" id="{0A5A1EE6-6414-4C85-B5B3-05D9CB8B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首页是研究工作区，不是数据库存仪表盘</a:t>
            </a:r>
          </a:p>
        </p:txBody>
      </p:sp>
      <p:sp>
        <p:nvSpPr>
          <p:cNvPr id="2" name="screenshot-subtitle-5">
            <a:extLst xmlns:a="http://schemas.openxmlformats.org/drawingml/2006/main">
              <a:ext uri="{FF2B5EF4-FFF2-40B4-BE49-F238E27FC236}">
                <a16:creationId xmlns:a16="http://schemas.microsoft.com/office/drawing/2014/main" id="{1729C76B-914E-45B2-BE2D-6307B01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输入与运行配置集中在首屏；实时 AI 和冻结回放是两个明确入口。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e8066691244c5"/>
          <a:stretch xmlns:a="http://schemas.openxmlformats.org/drawingml/2006/main"/>
        </p:blipFill>
        <p:spPr>
          <a:xfrm xmlns:a="http://schemas.openxmlformats.org/drawingml/2006/main">
            <a:off x="2286000" y="14287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disclaimer-5">
            <a:extLst xmlns:a="http://schemas.openxmlformats.org/drawingml/2006/main">
              <a:ext uri="{FF2B5EF4-FFF2-40B4-BE49-F238E27FC236}">
                <a16:creationId xmlns:a16="http://schemas.microsoft.com/office/drawing/2014/main" id="{BA4580E8-9600-4328-A2C9-E45813F4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本报告仅供研究参考，不构成投资建议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1740148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creenshot-title-6">
            <a:extLst xmlns:a="http://schemas.openxmlformats.org/drawingml/2006/main">
              <a:ext uri="{FF2B5EF4-FFF2-40B4-BE49-F238E27FC236}">
                <a16:creationId xmlns:a16="http://schemas.microsoft.com/office/drawing/2014/main" id="{616593B4-2B67-4D2B-9E36-424FF8DF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Discovery 和 OOS 不混用，证据不足就如实呈现</a:t>
            </a:r>
          </a:p>
        </p:txBody>
      </p:sp>
      <p:sp>
        <p:nvSpPr>
          <p:cNvPr id="2" name="screenshot-subtitle-6">
            <a:extLst xmlns:a="http://schemas.openxmlformats.org/drawingml/2006/main">
              <a:ext uri="{FF2B5EF4-FFF2-40B4-BE49-F238E27FC236}">
                <a16:creationId xmlns:a16="http://schemas.microsoft.com/office/drawing/2014/main" id="{E40622E6-80A3-4D14-AF52-D92641DE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当前 OOS 只有 1 个因子活跃日、0 个有效 IC 日，因此不声称因子稳定有效。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9652eb9f64699"/>
          <a:stretch xmlns:a="http://schemas.openxmlformats.org/drawingml/2006/main"/>
        </p:blipFill>
        <p:spPr>
          <a:xfrm xmlns:a="http://schemas.openxmlformats.org/drawingml/2006/main">
            <a:off x="2286000" y="14287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disclaimer-6">
            <a:extLst xmlns:a="http://schemas.openxmlformats.org/drawingml/2006/main">
              <a:ext uri="{FF2B5EF4-FFF2-40B4-BE49-F238E27FC236}">
                <a16:creationId xmlns:a16="http://schemas.microsoft.com/office/drawing/2014/main" id="{8521A98E-F2C1-4C9A-BBC0-8B5375F9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本报告仅供研究参考，不构成投资建议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880640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creenshot-title-7">
            <a:extLst xmlns:a="http://schemas.openxmlformats.org/drawingml/2006/main">
              <a:ext uri="{FF2B5EF4-FFF2-40B4-BE49-F238E27FC236}">
                <a16:creationId xmlns:a16="http://schemas.microsoft.com/office/drawing/2014/main" id="{3D1059A2-7B68-4B82-A94E-D35ECEFA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研究可靠性需要单独的审计界面</a:t>
            </a:r>
          </a:p>
        </p:txBody>
      </p:sp>
      <p:sp>
        <p:nvSpPr>
          <p:cNvPr id="2" name="screenshot-subtitle-7">
            <a:extLst xmlns:a="http://schemas.openxmlformats.org/drawingml/2006/main">
              <a:ext uri="{FF2B5EF4-FFF2-40B4-BE49-F238E27FC236}">
                <a16:creationId xmlns:a16="http://schemas.microsoft.com/office/drawing/2014/main" id="{4AA70769-E76D-4509-BC79-CABD1B9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来源、人工复核、独立文档支持、行情限制、Prompt、规则和 Git 版本集中披露。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9793c72624aa2"/>
          <a:stretch xmlns:a="http://schemas.openxmlformats.org/drawingml/2006/main"/>
        </p:blipFill>
        <p:spPr>
          <a:xfrm xmlns:a="http://schemas.openxmlformats.org/drawingml/2006/main">
            <a:off x="2286000" y="14287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disclaimer-7">
            <a:extLst xmlns:a="http://schemas.openxmlformats.org/drawingml/2006/main">
              <a:ext uri="{FF2B5EF4-FFF2-40B4-BE49-F238E27FC236}">
                <a16:creationId xmlns:a16="http://schemas.microsoft.com/office/drawing/2014/main" id="{5E25701C-162B-4F20-A2C1-B4149ACE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本报告仅供研究参考，不构成投资建议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68350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8AFC1A14-A5A3-4270-824E-C3C8EB65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AlphaLens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4EE1508-1BAF-4BE8-A105-5061972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24000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 AI 参与研究，</a:t>
            </a:r>
          </a:p>
          <a:p xmlns:a="http://schemas.openxmlformats.org/drawingml/2006/main">
            <a:pPr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也让每个判断可被检验</a:t>
            </a:r>
          </a:p>
        </p:txBody>
      </p:sp>
      <p:sp>
        <p:nvSpPr>
          <p:cNvPr id="3" name="close-details">
            <a:extLst xmlns:a="http://schemas.openxmlformats.org/drawingml/2006/main">
              <a:ext uri="{FF2B5EF4-FFF2-40B4-BE49-F238E27FC236}">
                <a16:creationId xmlns:a16="http://schemas.microsoft.com/office/drawing/2014/main" id="{6087FA62-DE49-4DF3-BE5E-4D0CF542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05375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下一步：扩充 OOS 有效日期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导入真实复权因子序列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完成金融 Schema 与真实数据联调</a:t>
            </a:r>
          </a:p>
        </p:txBody>
      </p:sp>
      <p:sp>
        <p:nvSpPr>
          <p:cNvPr id="4" name="disclaimer-8">
            <a:extLst xmlns:a="http://schemas.openxmlformats.org/drawingml/2006/main">
              <a:ext uri="{FF2B5EF4-FFF2-40B4-BE49-F238E27FC236}">
                <a16:creationId xmlns:a16="http://schemas.microsoft.com/office/drawing/2014/main" id="{A90D714F-5A23-4C30-985B-0435A97A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5717F"/>
                </a:solidFill>
                <a:latin typeface="Helvetica Neue"/>
                <a:ea typeface="Helvetica Neue"/>
                <a:cs typeface="Helvetica Neue"/>
              </a:rPr>
              <a:t>本报告仅供研究参考，不构成投资建议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1776091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2026-08-04T04:19:09.4210000Z</dcterms:created>
  <dcterms:modified xsi:type="dcterms:W3CDTF">2026-08-04T04:19:09.4210000Z</dcterms:modified>
</coreProperties>
</file>